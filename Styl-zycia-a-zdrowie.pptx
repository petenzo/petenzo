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stęp" id="{74b0d50a-3d6f-26b0-1f63-7eafcc225b93}">
          <p14:sldIdLst>
            <p14:sldId id="256"/>
          </p14:sldIdLst>
        </p14:section>
        <p14:section name="Treść" id="{bd83bbe7-1176-0104-c492-f3188541acbb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 życia to jeden z najważniejszych czynników wpływających na zdrowie — według WHO odpowiada w ok. 50% za nasz stan zdrowia.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 życia to zespół zachowań. Mogą być pozytywne (sprzyjające zdrowiu) lub negatywne (szkodzące zdrowiu).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Zalecane minimum to 150 minut umiarkowanej aktywności fizycznej tygodniowo, np. szybki marsz, jazda na rowerze, pływanie.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Dorosły potrzebuje minimum 7 godzin snu. Ważne jest też radzenie sobie ze stresem i unikanie nałogów.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YTU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RESC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C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166"/>
                </a:solidFill>
              </a:rPr>
              <a:t>ZDROWIE  •  NAWYKI  •  RÓWNOWAGA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258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Styl życia a zdrowie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F5F1"/>
                </a:solidFill>
              </a:rPr>
              <a:t>Jak codzienne wybory kształtują nasze ciało i samopoczucie</a:t>
            </a:r>
            <a:endParaRPr lang="en-US" sz="1800" dirty="0"/>
          </a:p>
        </p:txBody>
      </p:sp>
      <p:sp>
        <p:nvSpPr>
          <p:cNvPr id="5" name="Pierścień"/>
          <p:cNvSpPr/>
          <p:nvPr/>
        </p:nvSpPr>
        <p:spPr>
          <a:xfrm>
            <a:off x="6263640" y="1417320"/>
            <a:ext cx="1920240" cy="1920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FFFFF">
                <a:alpha val="50000"/>
              </a:srgbClr>
            </a:solidFill>
            <a:prstDash val="dash"/>
          </a:ln>
        </p:spPr>
      </p:sp>
      <p:sp>
        <p:nvSpPr>
          <p:cNvPr id="6" name="Serce tło"/>
          <p:cNvSpPr/>
          <p:nvPr/>
        </p:nvSpPr>
        <p:spPr>
          <a:xfrm>
            <a:off x="6675120" y="1828800"/>
            <a:ext cx="1097280" cy="10972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pic>
        <p:nvPicPr>
          <p:cNvPr id="7" name="Ser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10312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85800"/>
            <a:ext cx="1005840" cy="1005840"/>
          </a:xfrm>
          <a:prstGeom prst="ellipse">
            <a:avLst/>
          </a:prstGeom>
          <a:solidFill>
            <a:srgbClr val="2EC4B6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96012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26680" y="1874520"/>
            <a:ext cx="1005840" cy="1005840"/>
          </a:xfrm>
          <a:prstGeom prst="ellipse">
            <a:avLst/>
          </a:prstGeom>
          <a:solidFill>
            <a:srgbClr val="FF6B6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14884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20840" y="3063240"/>
            <a:ext cx="1005840" cy="1005840"/>
          </a:xfrm>
          <a:prstGeom prst="ellipse">
            <a:avLst/>
          </a:prstGeom>
          <a:solidFill>
            <a:srgbClr val="FFD166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337560"/>
            <a:ext cx="457200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15000" y="1874520"/>
            <a:ext cx="1005840" cy="1005840"/>
          </a:xfrm>
          <a:prstGeom prst="ellipse">
            <a:avLst/>
          </a:prstGeom>
          <a:solidFill>
            <a:srgbClr val="06D6A0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14884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Styl życia – zespół zachowań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7475"/>
                </a:solidFill>
              </a:rPr>
              <a:t>Styl życia </a:t>
            </a:r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to codzienne zachowania człowieka. Mogą one wpływać na zdrowie </a:t>
            </a:r>
            <a:pPr indent="0" marL="0">
              <a:buNone/>
            </a:pPr>
            <a:r>
              <a:rPr lang="en-US" sz="1600" b="1" dirty="0">
                <a:solidFill>
                  <a:srgbClr val="059E77"/>
                </a:solidFill>
              </a:rPr>
              <a:t>pozytywnie</a:t>
            </a:r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 lub </a:t>
            </a:r>
            <a:pPr indent="0" marL="0">
              <a:buNone/>
            </a:pPr>
            <a:r>
              <a:rPr lang="en-US" sz="1600" b="1" dirty="0">
                <a:solidFill>
                  <a:srgbClr val="E04848"/>
                </a:solidFill>
              </a:rPr>
              <a:t>negatywnie</a:t>
            </a:r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.</a:t>
            </a:r>
            <a:endParaRPr lang="en-US" sz="1600" dirty="0"/>
          </a:p>
        </p:txBody>
      </p:sp>
      <p:sp>
        <p:nvSpPr>
          <p:cNvPr id="4" name="Zachowania pozytywne"/>
          <p:cNvSpPr/>
          <p:nvPr/>
        </p:nvSpPr>
        <p:spPr>
          <a:xfrm>
            <a:off x="548640" y="1783080"/>
            <a:ext cx="3931920" cy="2880360"/>
          </a:xfrm>
          <a:prstGeom prst="roundRect">
            <a:avLst>
              <a:gd name="adj" fmla="val 5714"/>
            </a:avLst>
          </a:prstGeom>
          <a:solidFill>
            <a:srgbClr val="E6FBF4"/>
          </a:solidFill>
          <a:ln/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594360" cy="59436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30552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886A"/>
                </a:solidFill>
              </a:rPr>
              <a:t>Zachowania pozytywne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620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788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Regularna aktywność fizyczna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1927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Zdrowa, zbilansowana dieta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76472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Odpowiednia ilość snu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3367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Umiejętność radzenia sobie ze stresem</a:t>
            </a:r>
            <a:endParaRPr lang="en-US" sz="1500" dirty="0"/>
          </a:p>
        </p:txBody>
      </p:sp>
      <p:sp>
        <p:nvSpPr>
          <p:cNvPr id="16" name="Zachowania negatywne"/>
          <p:cNvSpPr/>
          <p:nvPr/>
        </p:nvSpPr>
        <p:spPr>
          <a:xfrm>
            <a:off x="4663440" y="1783080"/>
            <a:ext cx="3931920" cy="2880360"/>
          </a:xfrm>
          <a:prstGeom prst="roundRect">
            <a:avLst>
              <a:gd name="adj" fmla="val 5714"/>
            </a:avLst>
          </a:prstGeom>
          <a:solidFill>
            <a:srgbClr val="FFF0F0"/>
          </a:solidFill>
          <a:ln/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937760" y="1984248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2130552"/>
            <a:ext cx="301752" cy="30175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669280" y="19842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C3C"/>
                </a:solidFill>
              </a:rPr>
              <a:t>Zachowania negatywne</a:t>
            </a:r>
            <a:endParaRPr lang="en-US" sz="2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862072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349240" y="2788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Siedzący tryb życia</a:t>
            </a:r>
            <a:endParaRPr lang="en-US" sz="15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319272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349240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Palenie, alkohol i inne używki</a:t>
            </a:r>
            <a:endParaRPr lang="en-US" sz="15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776472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349240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Fast food i nieregularne posiłki</a:t>
            </a:r>
            <a:endParaRPr lang="en-US" sz="15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233672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349240" y="4160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3557"/>
                </a:solidFill>
              </a:rPr>
              <a:t>Przewlekły stres i niedobór snu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Aktywność fizyczna</a:t>
            </a:r>
            <a:endParaRPr lang="en-US" sz="3600" dirty="0"/>
          </a:p>
        </p:txBody>
      </p:sp>
      <p:sp>
        <p:nvSpPr>
          <p:cNvPr id="3" name="Statystyka"/>
          <p:cNvSpPr/>
          <p:nvPr/>
        </p:nvSpPr>
        <p:spPr>
          <a:xfrm>
            <a:off x="685800" y="1325880"/>
            <a:ext cx="3017520" cy="3017520"/>
          </a:xfrm>
          <a:prstGeom prst="ellipse">
            <a:avLst/>
          </a:prstGeom>
          <a:solidFill>
            <a:srgbClr val="2EC4B6"/>
          </a:solidFill>
          <a:ln w="101600">
            <a:solidFill>
              <a:srgbClr val="BDEFEA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minimum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150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minut tygodniowo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234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7475"/>
                </a:solidFill>
              </a:rPr>
              <a:t>To np. 5 dni × 30 minut ruchu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777240" cy="914400"/>
          </a:xfrm>
          <a:prstGeom prst="roundRect">
            <a:avLst>
              <a:gd name="adj" fmla="val 14118"/>
            </a:avLst>
          </a:prstGeom>
          <a:solidFill>
            <a:srgbClr val="12747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128" y="178308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206240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93208" y="1691640"/>
            <a:ext cx="777240" cy="914400"/>
          </a:xfrm>
          <a:prstGeom prst="roundRect">
            <a:avLst>
              <a:gd name="adj" fmla="val 14118"/>
            </a:avLst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7830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93208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80176" y="1691640"/>
            <a:ext cx="777240" cy="914400"/>
          </a:xfrm>
          <a:prstGeom prst="roundRect">
            <a:avLst>
              <a:gd name="adj" fmla="val 14118"/>
            </a:avLst>
          </a:prstGeom>
          <a:solidFill>
            <a:srgbClr val="12747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78308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Śr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67144" y="1691640"/>
            <a:ext cx="777240" cy="914400"/>
          </a:xfrm>
          <a:prstGeom prst="roundRect">
            <a:avLst>
              <a:gd name="adj" fmla="val 14118"/>
            </a:avLst>
          </a:prstGeom>
          <a:solidFill>
            <a:srgbClr val="FF6B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1783080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67144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Cz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754112" y="1691640"/>
            <a:ext cx="777240" cy="914400"/>
          </a:xfrm>
          <a:prstGeom prst="roundRect">
            <a:avLst>
              <a:gd name="adj" fmla="val 14118"/>
            </a:avLst>
          </a:prstGeom>
          <a:solidFill>
            <a:srgbClr val="12747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783080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54112" y="2103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30 min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206240" y="2880360"/>
            <a:ext cx="457200" cy="457200"/>
          </a:xfrm>
          <a:prstGeom prst="ellipse">
            <a:avLst/>
          </a:prstGeom>
          <a:solidFill>
            <a:srgbClr val="FF6B6B">
              <a:alpha val="18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299008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84632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Zdrowe serce i układ krążenia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4206240" y="3447288"/>
            <a:ext cx="457200" cy="457200"/>
          </a:xfrm>
          <a:prstGeom prst="ellipse">
            <a:avLst/>
          </a:prstGeom>
          <a:solidFill>
            <a:srgbClr val="127475">
              <a:alpha val="18000"/>
            </a:srgbClr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3557016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846320" y="3447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Mocniejsze mięśnie i kości</a:t>
            </a:r>
            <a:endParaRPr lang="en-US" sz="1600" dirty="0"/>
          </a:p>
        </p:txBody>
      </p:sp>
      <p:sp>
        <p:nvSpPr>
          <p:cNvPr id="29" name="Shape 20"/>
          <p:cNvSpPr/>
          <p:nvPr/>
        </p:nvSpPr>
        <p:spPr>
          <a:xfrm>
            <a:off x="4206240" y="4014216"/>
            <a:ext cx="457200" cy="457200"/>
          </a:xfrm>
          <a:prstGeom prst="ellipse">
            <a:avLst/>
          </a:prstGeom>
          <a:solidFill>
            <a:srgbClr val="E0A100">
              <a:alpha val="18000"/>
            </a:srgbClr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5968" y="412394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46320" y="4014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3557"/>
                </a:solidFill>
              </a:rPr>
              <a:t>Lepszy nastrój i mniej stresu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Sen, stres i nałogi</a:t>
            </a:r>
            <a:endParaRPr lang="en-US" sz="3600" dirty="0"/>
          </a:p>
        </p:txBody>
      </p:sp>
      <p:sp>
        <p:nvSpPr>
          <p:cNvPr id="3" name="Sen"/>
          <p:cNvSpPr/>
          <p:nvPr/>
        </p:nvSpPr>
        <p:spPr>
          <a:xfrm>
            <a:off x="548640" y="1234440"/>
            <a:ext cx="2560320" cy="2926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463040"/>
            <a:ext cx="822960" cy="822960"/>
          </a:xfrm>
          <a:prstGeom prst="ellipse">
            <a:avLst/>
          </a:prstGeom>
          <a:solidFill>
            <a:srgbClr val="5A4FC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6642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4FCF"/>
                </a:solidFill>
              </a:rPr>
              <a:t>min. 7 h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Sen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Pozwala zregenerować ciało i mózg, poprawia koncentrację i odporność.</a:t>
            </a:r>
            <a:endParaRPr lang="en-US" sz="1300" dirty="0"/>
          </a:p>
        </p:txBody>
      </p:sp>
      <p:sp>
        <p:nvSpPr>
          <p:cNvPr id="9" name="Radzenie sobie ze stresem"/>
          <p:cNvSpPr/>
          <p:nvPr/>
        </p:nvSpPr>
        <p:spPr>
          <a:xfrm>
            <a:off x="3291840" y="1234440"/>
            <a:ext cx="2560320" cy="2926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463040"/>
            <a:ext cx="822960" cy="822960"/>
          </a:xfrm>
          <a:prstGeom prst="ellipse">
            <a:avLst/>
          </a:prstGeom>
          <a:solidFill>
            <a:srgbClr val="05A5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6642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A57E"/>
                </a:solidFill>
              </a:rPr>
              <a:t>Spokój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Radzenie sobie ze stresem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46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Ruch, głęboki oddech, rozmowa z bliskimi i czas na odpoczynek.</a:t>
            </a:r>
            <a:endParaRPr lang="en-US" sz="1300" dirty="0"/>
          </a:p>
        </p:txBody>
      </p:sp>
      <p:sp>
        <p:nvSpPr>
          <p:cNvPr id="15" name="Unikanie nałogów"/>
          <p:cNvSpPr/>
          <p:nvPr/>
        </p:nvSpPr>
        <p:spPr>
          <a:xfrm>
            <a:off x="6035040" y="1234440"/>
            <a:ext cx="2560320" cy="292608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3ECEB"/>
            </a:solidFill>
            <a:prstDash val="solid"/>
          </a:ln>
          <a:effectLst>
            <a:outerShdw sx="100000" sy="100000" kx="0" ky="0" algn="bl" rotWithShape="0" blurRad="127000" dist="38100" dir="5400000">
              <a:srgbClr val="0B3C49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03720" y="1463040"/>
            <a:ext cx="822960" cy="822960"/>
          </a:xfrm>
          <a:prstGeom prst="ellipse">
            <a:avLst/>
          </a:prstGeom>
          <a:solidFill>
            <a:srgbClr val="E0484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6642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4848"/>
                </a:solidFill>
              </a:rPr>
              <a:t>Stop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3557"/>
                </a:solidFill>
              </a:rPr>
              <a:t>Unikanie nałogów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2461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</a:rPr>
              <a:t>Bez papierosów, alkoholu i narkotyków – to inwestycja w zdrowie.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7475"/>
                </a:solidFill>
              </a:rPr>
              <a:t>Małe codzienne wybory = </a:t>
            </a:r>
            <a:pPr algn="ctr" indent="0" marL="0">
              <a:buNone/>
            </a:pPr>
            <a:r>
              <a:rPr lang="en-US" sz="1600" b="1" i="1" dirty="0">
                <a:solidFill>
                  <a:srgbClr val="FF6B6B"/>
                </a:solidFill>
              </a:rPr>
              <a:t>duża różnica dla zdrowia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Zdrowy Styl">
  <a:themeElements>
    <a:clrScheme name="Zdrowy Styl">
      <a:dk1>
        <a:srgbClr val="1D3557"/>
      </a:dk1>
      <a:lt1>
        <a:srgbClr val="FFFFFF"/>
      </a:lt1>
      <a:dk2>
        <a:srgbClr val="0B3C49"/>
      </a:dk2>
      <a:lt2>
        <a:srgbClr val="EEF9F8"/>
      </a:lt2>
      <a:accent1>
        <a:srgbClr val="2EC4B6"/>
      </a:accent1>
      <a:accent2>
        <a:srgbClr val="FF6B6B"/>
      </a:accent2>
      <a:accent3>
        <a:srgbClr val="FFD166"/>
      </a:accent3>
      <a:accent4>
        <a:srgbClr val="06D6A0"/>
      </a:accent4>
      <a:accent5>
        <a:srgbClr val="127475"/>
      </a:accent5>
      <a:accent6>
        <a:srgbClr val="118AB2"/>
      </a:accent6>
      <a:hlink>
        <a:srgbClr val="118AB2"/>
      </a:hlink>
      <a:folHlink>
        <a:srgbClr val="127475"/>
      </a:folHlink>
    </a:clrScheme>
    <a:fontScheme name="Zdrowy Sty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 życia a zdrowie</dc:title>
  <dc:subject>PptxGenJS Presentation</dc:subject>
  <dc:creator>PptxGenJS</dc:creator>
  <cp:lastModifiedBy>PptxGenJS</cp:lastModifiedBy>
  <cp:revision>1</cp:revision>
  <dcterms:created xsi:type="dcterms:W3CDTF">2026-10-11T12:29:46Z</dcterms:created>
  <dcterms:modified xsi:type="dcterms:W3CDTF">2026-10-11T12:29:46Z</dcterms:modified>
</cp:coreProperties>
</file>